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29ABE2">
              <a:alpha val="16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9B7FD4">
              <a:alpha val="2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0845" y="995045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Farm Management System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24815" y="2286000"/>
            <a:ext cx="74599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Ideation, requirements, design, and implementation of a Salesforce-based platform for farm, crop, farmer and buyer management.</a:t>
            </a:r>
            <a:endParaRPr lang="en-US" sz="2000" dirty="0"/>
          </a:p>
        </p:txBody>
      </p:sp>
      <p:sp>
        <p:nvSpPr>
          <p:cNvPr id="8" name="Text Box 7"/>
          <p:cNvSpPr txBox="1"/>
          <p:nvPr/>
        </p:nvSpPr>
        <p:spPr>
          <a:xfrm>
            <a:off x="410845" y="37458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Presented By :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032000" y="44710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M. Mubeena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G. Navaneetham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M. Navina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V. Parameshwari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lumMod val="95000"/>
                  </a:schemeClr>
                </a:solidFill>
              </a:rPr>
              <a:t>M. Pavithra</a:t>
            </a:r>
            <a:endParaRPr lang="en-US" sz="24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System Is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4389120"/>
          </a:xfrm>
          <a:prstGeom prst="roundRect">
            <a:avLst>
              <a:gd name="adj" fmla="val 2500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02412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farmer, farm manager, or system administrator, I want a centralized Salesforce-based platform to record and manage farm, crop, farmer, and buyer information — so that all agricultural data is stored securely and systematically.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enter and update farm details, crop production records, and buyer transactions easily through a user-friendly interface with validation rules that prevent incorrect entries.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490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also want real-time reports and interactive dashboards to analyze productivity and sales, plus role-based access so sensitive information stays protected while enabling smooth collaboration.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7548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7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less paperwork, fewer errors, and data-driven farm management.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 &amp;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50292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Salesforce-based application designed to digitize and streamline agricultural operations — managing data on farms, crops, farmers and buyers, with real-time insights through reports and dashboards.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2B2E4A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D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23317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10" name="Text 8"/>
          <p:cNvSpPr txBox="1"/>
          <p:nvPr/>
        </p:nvSpPr>
        <p:spPr>
          <a:xfrm>
            <a:off x="6995160" y="22128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Digitize agricultural data management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0" y="27889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12" name="Text 10"/>
          <p:cNvSpPr txBox="1"/>
          <p:nvPr/>
        </p:nvSpPr>
        <p:spPr>
          <a:xfrm>
            <a:off x="6995160" y="26700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data accuracy and accessibility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32461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14" name="Text 12"/>
          <p:cNvSpPr txBox="1"/>
          <p:nvPr/>
        </p:nvSpPr>
        <p:spPr>
          <a:xfrm>
            <a:off x="6995160" y="31272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record handling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37033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16" name="Text 14"/>
          <p:cNvSpPr txBox="1"/>
          <p:nvPr/>
        </p:nvSpPr>
        <p:spPr>
          <a:xfrm>
            <a:off x="6995160" y="35844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real-time monitoring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41605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18" name="Text 16"/>
          <p:cNvSpPr txBox="1"/>
          <p:nvPr/>
        </p:nvSpPr>
        <p:spPr>
          <a:xfrm>
            <a:off x="6995160" y="40416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data-driven farming decisions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4617720"/>
            <a:ext cx="109728" cy="109728"/>
          </a:xfrm>
          <a:prstGeom prst="ellipse">
            <a:avLst/>
          </a:prstGeom>
          <a:solidFill>
            <a:srgbClr val="8FD6F7"/>
          </a:solidFill>
        </p:spPr>
      </p:sp>
      <p:sp>
        <p:nvSpPr>
          <p:cNvPr id="20" name="Text 18"/>
          <p:cNvSpPr txBox="1"/>
          <p:nvPr/>
        </p:nvSpPr>
        <p:spPr>
          <a:xfrm>
            <a:off x="6995160" y="44988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 productivity and transparency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 IDEATION PHASE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2560320"/>
                <a:gridCol w="2560320"/>
                <a:gridCol w="1645920"/>
              </a:tblGrid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Trying To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Because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Feels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Farmer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Maintain farm &amp; crop records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is often incomplete or incorrect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Records are kept manually in registers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Frustrated &amp; confused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Farm Manager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 farm productivity and sales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Reports are delayed and inaccurate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is scattered across files and sheets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Stressed &amp; inefficient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Buyer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 crop availability and pricing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Information is not updated regularly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There is no centralized digital system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Uncertain &amp; dissatisfied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Admin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Manage user access and system security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Unauthorized access may occur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 control is handled manually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Concerned &amp; insecure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 EMPATHY MAP CANVAS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Users &amp; Empathy 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7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Users: Farmers · Farm Managers · Buyers · System Administrators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67128"/>
            <a:ext cx="91440" cy="502920"/>
          </a:xfrm>
          <a:prstGeom prst="roundRect">
            <a:avLst/>
          </a:prstGeom>
          <a:solidFill>
            <a:srgbClr val="29ABE2"/>
          </a:solidFill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&amp; Feel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3288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accurate and timely farm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67128"/>
            <a:ext cx="91440" cy="502920"/>
          </a:xfrm>
          <a:prstGeom prst="roundRect">
            <a:avLst/>
          </a:prstGeom>
          <a:solidFill>
            <a:srgbClr val="9B7FD4"/>
          </a:solidFill>
        </p:spPr>
      </p:sp>
      <p:sp>
        <p:nvSpPr>
          <p:cNvPr id="11" name="Text 9"/>
          <p:cNvSpPr txBox="1"/>
          <p:nvPr/>
        </p:nvSpPr>
        <p:spPr>
          <a:xfrm>
            <a:off x="489204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53288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from agricultural officers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167128"/>
            <a:ext cx="91440" cy="502920"/>
          </a:xfrm>
          <a:prstGeom prst="roundRect">
            <a:avLst/>
          </a:prstGeom>
          <a:solidFill>
            <a:srgbClr val="29ABE2"/>
          </a:solidFill>
        </p:spPr>
      </p:sp>
      <p:sp>
        <p:nvSpPr>
          <p:cNvPr id="15" name="Text 13"/>
          <p:cNvSpPr txBox="1"/>
          <p:nvPr/>
        </p:nvSpPr>
        <p:spPr>
          <a:xfrm>
            <a:off x="868680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53288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Registers, paper files, spreadsheets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13048"/>
            <a:ext cx="91440" cy="502920"/>
          </a:xfrm>
          <a:prstGeom prst="roundRect">
            <a:avLst/>
          </a:prstGeom>
          <a:solidFill>
            <a:srgbClr val="9B7FD4"/>
          </a:solidFill>
        </p:spPr>
      </p:sp>
      <p:sp>
        <p:nvSpPr>
          <p:cNvPr id="19" name="Text 17"/>
          <p:cNvSpPr txBox="1"/>
          <p:nvPr/>
        </p:nvSpPr>
        <p:spPr>
          <a:xfrm>
            <a:off x="109728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&amp; Do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17880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records manually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611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813048"/>
            <a:ext cx="91440" cy="502920"/>
          </a:xfrm>
          <a:prstGeom prst="roundRect">
            <a:avLst/>
          </a:prstGeom>
          <a:solidFill>
            <a:srgbClr val="E0654F"/>
          </a:solidFill>
        </p:spPr>
      </p:sp>
      <p:sp>
        <p:nvSpPr>
          <p:cNvPr id="23" name="Text 21"/>
          <p:cNvSpPr txBox="1"/>
          <p:nvPr/>
        </p:nvSpPr>
        <p:spPr>
          <a:xfrm>
            <a:off x="489204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17880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loss, errors, delays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611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3813048"/>
            <a:ext cx="91440" cy="502920"/>
          </a:xfrm>
          <a:prstGeom prst="roundRect">
            <a:avLst/>
          </a:prstGeom>
          <a:solidFill>
            <a:srgbClr val="3FA796"/>
          </a:solidFill>
        </p:spPr>
      </p:sp>
      <p:sp>
        <p:nvSpPr>
          <p:cNvPr id="27" name="Text 25"/>
          <p:cNvSpPr txBox="1"/>
          <p:nvPr/>
        </p:nvSpPr>
        <p:spPr>
          <a:xfrm>
            <a:off x="868680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17880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Automation, fast reporting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 BRAINSTORMING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Idea to Decision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Ideas Considered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farm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3288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Excel-based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99816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09981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Web-based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66744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66674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farm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33672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336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Salesforce-based FMS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212080" cy="4251960"/>
          </a:xfrm>
          <a:prstGeom prst="roundRect">
            <a:avLst>
              <a:gd name="adj" fmla="val 3011"/>
            </a:avLst>
          </a:prstGeom>
          <a:solidFill>
            <a:srgbClr val="2B2E4A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IDEA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Salesforce-based Farm Management System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383280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Chosen for its cloud infrastructure, built-in security model, and native reporting and dashboard tools — everything the empathy map showed these users needed.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 REQUIREMENT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Journey 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stages take a user from logging in to making a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23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29ABE2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37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253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625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9B7FD4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539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539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App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255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27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29ABE2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541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541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Farm &amp; Crop Data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2257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629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9B7FD4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543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543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Farmers &amp; Buyers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259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631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29ABE2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545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545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Reports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261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633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9B7FD4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547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547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Results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026396" y="2377440"/>
            <a:ext cx="137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163556" y="2377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29ABE2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254996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254996" y="2697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Making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persona — Farmer, Farm Manager, and System Admin — moves through these same stages with a smoother, faster experience than before.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 SOLUTION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9ABE2"/>
          </a:solidFill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020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71907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9B7FD4"/>
          </a:solidFill>
        </p:spPr>
      </p:sp>
      <p:sp>
        <p:nvSpPr>
          <p:cNvPr id="10" name="Text 8"/>
          <p:cNvSpPr txBox="1"/>
          <p:nvPr/>
        </p:nvSpPr>
        <p:spPr>
          <a:xfrm>
            <a:off x="6428232" y="171907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60020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Farm, Crop, Farmer, Buyer Management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441448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5603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9ABE2"/>
          </a:solidFill>
        </p:spPr>
      </p:sp>
      <p:sp>
        <p:nvSpPr>
          <p:cNvPr id="14" name="Text 12"/>
          <p:cNvSpPr txBox="1"/>
          <p:nvPr/>
        </p:nvSpPr>
        <p:spPr>
          <a:xfrm>
            <a:off x="804672" y="256032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441448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Entry and Validation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441448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5603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9B7FD4"/>
          </a:solidFill>
        </p:spPr>
      </p:sp>
      <p:sp>
        <p:nvSpPr>
          <p:cNvPr id="18" name="Text 16"/>
          <p:cNvSpPr txBox="1"/>
          <p:nvPr/>
        </p:nvSpPr>
        <p:spPr>
          <a:xfrm>
            <a:off x="6428232" y="256032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441448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 Mapping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282696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40156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9ABE2"/>
          </a:solidFill>
        </p:spPr>
      </p:sp>
      <p:sp>
        <p:nvSpPr>
          <p:cNvPr id="22" name="Text 20"/>
          <p:cNvSpPr txBox="1"/>
          <p:nvPr/>
        </p:nvSpPr>
        <p:spPr>
          <a:xfrm>
            <a:off x="804672" y="340156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3282696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282696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340156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9B7FD4"/>
          </a:solidFill>
        </p:spPr>
      </p:sp>
      <p:sp>
        <p:nvSpPr>
          <p:cNvPr id="26" name="Text 24"/>
          <p:cNvSpPr txBox="1"/>
          <p:nvPr/>
        </p:nvSpPr>
        <p:spPr>
          <a:xfrm>
            <a:off x="6428232" y="340156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FR-6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282696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Visualization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123944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242816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9ABE2"/>
          </a:solidFill>
        </p:spPr>
      </p:sp>
      <p:sp>
        <p:nvSpPr>
          <p:cNvPr id="30" name="Text 28"/>
          <p:cNvSpPr txBox="1"/>
          <p:nvPr/>
        </p:nvSpPr>
        <p:spPr>
          <a:xfrm>
            <a:off x="804672" y="4242816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FR-7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4123944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Role Management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 SOLUTION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411480" cy="41148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6" name="Text 4"/>
          <p:cNvSpPr txBox="1"/>
          <p:nvPr/>
        </p:nvSpPr>
        <p:spPr>
          <a:xfrm>
            <a:off x="1417320" y="175564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interface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Lightning UI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55648"/>
            <a:ext cx="411480" cy="41148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11" name="Text 9"/>
          <p:cNvSpPr txBox="1"/>
          <p:nvPr/>
        </p:nvSpPr>
        <p:spPr>
          <a:xfrm>
            <a:off x="5212080" y="175564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700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&amp; roles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755648"/>
            <a:ext cx="411480" cy="41148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16" name="Text 14"/>
          <p:cNvSpPr txBox="1"/>
          <p:nvPr/>
        </p:nvSpPr>
        <p:spPr>
          <a:xfrm>
            <a:off x="9006840" y="175564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 loss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6700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backup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675888"/>
            <a:ext cx="411480" cy="41148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21" name="Text 19"/>
          <p:cNvSpPr txBox="1"/>
          <p:nvPr/>
        </p:nvSpPr>
        <p:spPr>
          <a:xfrm>
            <a:off x="1417320" y="367588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51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access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5902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generate quickly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474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75888"/>
            <a:ext cx="411480" cy="41148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26" name="Text 24"/>
          <p:cNvSpPr txBox="1"/>
          <p:nvPr/>
        </p:nvSpPr>
        <p:spPr>
          <a:xfrm>
            <a:off x="5212080" y="367588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251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access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5902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hosting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3474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3675888"/>
            <a:ext cx="411480" cy="41148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31" name="Text 29"/>
          <p:cNvSpPr txBox="1"/>
          <p:nvPr/>
        </p:nvSpPr>
        <p:spPr>
          <a:xfrm>
            <a:off x="9006840" y="367588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251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growth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5902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farms / users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 &amp; 3.4 ARCHITECTURE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Flow &amp; 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951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9ABE2"/>
          </a:solidFill>
        </p:spPr>
      </p:sp>
      <p:sp>
        <p:nvSpPr>
          <p:cNvPr id="6" name="Text 4"/>
          <p:cNvSpPr txBox="1"/>
          <p:nvPr/>
        </p:nvSpPr>
        <p:spPr>
          <a:xfrm>
            <a:off x="69951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6255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399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9B7FD4"/>
          </a:solidFill>
        </p:spPr>
      </p:sp>
      <p:sp>
        <p:nvSpPr>
          <p:cNvPr id="9" name="Text 7"/>
          <p:cNvSpPr txBox="1"/>
          <p:nvPr/>
        </p:nvSpPr>
        <p:spPr>
          <a:xfrm>
            <a:off x="225399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UI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71703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0847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9ABE2"/>
          </a:solidFill>
        </p:spPr>
      </p:sp>
      <p:sp>
        <p:nvSpPr>
          <p:cNvPr id="12" name="Text 10"/>
          <p:cNvSpPr txBox="1"/>
          <p:nvPr/>
        </p:nvSpPr>
        <p:spPr>
          <a:xfrm>
            <a:off x="380847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Objects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27151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6295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9B7FD4"/>
          </a:solidFill>
        </p:spPr>
      </p:sp>
      <p:sp>
        <p:nvSpPr>
          <p:cNvPr id="15" name="Text 13"/>
          <p:cNvSpPr txBox="1"/>
          <p:nvPr/>
        </p:nvSpPr>
        <p:spPr>
          <a:xfrm>
            <a:off x="536295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Rules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2599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1743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9ABE2"/>
          </a:solidFill>
        </p:spPr>
      </p:sp>
      <p:sp>
        <p:nvSpPr>
          <p:cNvPr id="18" name="Text 16"/>
          <p:cNvSpPr txBox="1"/>
          <p:nvPr/>
        </p:nvSpPr>
        <p:spPr>
          <a:xfrm>
            <a:off x="691743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8047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7191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9B7FD4"/>
          </a:solidFill>
        </p:spPr>
      </p:sp>
      <p:sp>
        <p:nvSpPr>
          <p:cNvPr id="21" name="Text 19"/>
          <p:cNvSpPr txBox="1"/>
          <p:nvPr/>
        </p:nvSpPr>
        <p:spPr>
          <a:xfrm>
            <a:off x="847191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934956" y="1874520"/>
            <a:ext cx="91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26396" y="1874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9ABE2"/>
          </a:solidFill>
        </p:spPr>
      </p:sp>
      <p:sp>
        <p:nvSpPr>
          <p:cNvPr id="24" name="Text 22"/>
          <p:cNvSpPr txBox="1"/>
          <p:nvPr/>
        </p:nvSpPr>
        <p:spPr>
          <a:xfrm>
            <a:off x="10026396" y="1874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017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B7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347472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34747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347472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Lightning UI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97764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39776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39776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Platform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48056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44805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448056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Cloud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49834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98348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Rules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48640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54864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3291840" y="548640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&amp; Dashboards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 PROJECT DESIGN PHASE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Problem–Solution 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065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6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maintenance of farm, crop, farmer, and buyer records leads to missing or inaccurate data, slow reporting, and time-consuming, error-prone 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2B2E4A"/>
          </a:solidFill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4028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FMS replaces manual records with automated, cloud-based data management: secure centralized storage, real-time reports, and dashboards that turn data into accurate, timely agricultural insights.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3291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7F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 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 at a Glance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40080" y="1600200"/>
          <a:ext cx="10881360" cy="3931921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4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Problem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maintenance of records leading to errors, data loss, and delays.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Solution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Salesforce-based FMS with centralized data storage and automation.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Innovation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Automated validation, cloud storage, and real-time reporting dashboards.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Impact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Improved accuracy, faster reporting, and better decision-making.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Business Model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Digital farm management and agricultural data services platform.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Scalability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7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Supports multiple farms, users, and regions on cloud infrastructure.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 SOLUTION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Architecture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7393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9ABE2"/>
          </a:solidFill>
        </p:spPr>
      </p:sp>
      <p:sp>
        <p:nvSpPr>
          <p:cNvPr id="6" name="Text 4"/>
          <p:cNvSpPr txBox="1"/>
          <p:nvPr/>
        </p:nvSpPr>
        <p:spPr>
          <a:xfrm>
            <a:off x="822960" y="177393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7955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Lightning UI — tabs, pages, and the Lightning App users work 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2549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9B7FD4"/>
          </a:solidFill>
        </p:spPr>
      </p:sp>
      <p:sp>
        <p:nvSpPr>
          <p:cNvPr id="10" name="Text 8"/>
          <p:cNvSpPr txBox="1"/>
          <p:nvPr/>
        </p:nvSpPr>
        <p:spPr>
          <a:xfrm>
            <a:off x="822960" y="282549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7955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rules and object relationships that keep data correct and connected.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7705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9ABE2"/>
          </a:solidFill>
        </p:spPr>
      </p:sp>
      <p:sp>
        <p:nvSpPr>
          <p:cNvPr id="14" name="Text 12"/>
          <p:cNvSpPr txBox="1"/>
          <p:nvPr/>
        </p:nvSpPr>
        <p:spPr>
          <a:xfrm>
            <a:off x="822960" y="387705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703320"/>
            <a:ext cx="7955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objects — Farm, Crop, Farmer, Buyer — hold every record.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92861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9B7FD4"/>
          </a:solidFill>
        </p:spPr>
      </p:sp>
      <p:sp>
        <p:nvSpPr>
          <p:cNvPr id="18" name="Text 16"/>
          <p:cNvSpPr txBox="1"/>
          <p:nvPr/>
        </p:nvSpPr>
        <p:spPr>
          <a:xfrm>
            <a:off x="822960" y="49286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Layer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754880"/>
            <a:ext cx="7955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and dashboards that turn stored records into insight.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5–6. PLANNING &amp;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Was Built — 13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55064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54480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Developer Org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1416" y="1655064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10" name="Text 8"/>
          <p:cNvSpPr txBox="1"/>
          <p:nvPr/>
        </p:nvSpPr>
        <p:spPr>
          <a:xfrm>
            <a:off x="4471416" y="1655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554480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Objects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655064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14" name="Text 12"/>
          <p:cNvSpPr txBox="1"/>
          <p:nvPr/>
        </p:nvSpPr>
        <p:spPr>
          <a:xfrm>
            <a:off x="8174736" y="1655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13648" y="1554480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2585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359152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18" name="Text 16"/>
          <p:cNvSpPr txBox="1"/>
          <p:nvPr/>
        </p:nvSpPr>
        <p:spPr>
          <a:xfrm>
            <a:off x="768096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2258568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Lightning App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22585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71416" y="2359152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22" name="Text 20"/>
          <p:cNvSpPr txBox="1"/>
          <p:nvPr/>
        </p:nvSpPr>
        <p:spPr>
          <a:xfrm>
            <a:off x="4471416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910328" y="2258568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Fields &amp; Relationships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22585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2359152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26" name="Text 24"/>
          <p:cNvSpPr txBox="1"/>
          <p:nvPr/>
        </p:nvSpPr>
        <p:spPr>
          <a:xfrm>
            <a:off x="8174736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2258568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2962656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063240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30" name="Text 28"/>
          <p:cNvSpPr txBox="1"/>
          <p:nvPr/>
        </p:nvSpPr>
        <p:spPr>
          <a:xfrm>
            <a:off x="768096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2962656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2962656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1416" y="3063240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34" name="Text 32"/>
          <p:cNvSpPr txBox="1"/>
          <p:nvPr/>
        </p:nvSpPr>
        <p:spPr>
          <a:xfrm>
            <a:off x="4471416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910328" y="2962656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2962656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4736" y="3063240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38" name="Text 36"/>
          <p:cNvSpPr txBox="1"/>
          <p:nvPr/>
        </p:nvSpPr>
        <p:spPr>
          <a:xfrm>
            <a:off x="8174736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2962656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Sharing Rules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666744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" y="3767328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42" name="Text 40"/>
          <p:cNvSpPr txBox="1"/>
          <p:nvPr/>
        </p:nvSpPr>
        <p:spPr>
          <a:xfrm>
            <a:off x="768096" y="3767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207008" y="3666744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Adoption (Records)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43400" y="3666744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71416" y="3767328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46" name="Text 44"/>
          <p:cNvSpPr txBox="1"/>
          <p:nvPr/>
        </p:nvSpPr>
        <p:spPr>
          <a:xfrm>
            <a:off x="4471416" y="3767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4910328" y="3666744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46720" y="3666744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74736" y="3767328"/>
            <a:ext cx="365760" cy="365760"/>
          </a:xfrm>
          <a:prstGeom prst="ellipse">
            <a:avLst/>
          </a:prstGeom>
          <a:solidFill>
            <a:srgbClr val="9B7FD4"/>
          </a:solidFill>
        </p:spPr>
      </p:sp>
      <p:sp>
        <p:nvSpPr>
          <p:cNvPr id="50" name="Text 48"/>
          <p:cNvSpPr txBox="1"/>
          <p:nvPr/>
        </p:nvSpPr>
        <p:spPr>
          <a:xfrm>
            <a:off x="8174736" y="3767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613648" y="3666744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4370832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7F9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8096" y="4471416"/>
            <a:ext cx="365760" cy="365760"/>
          </a:xfrm>
          <a:prstGeom prst="ellipse">
            <a:avLst/>
          </a:prstGeom>
          <a:solidFill>
            <a:srgbClr val="29ABE2"/>
          </a:solidFill>
        </p:spPr>
      </p:sp>
      <p:sp>
        <p:nvSpPr>
          <p:cNvPr id="54" name="Text 52"/>
          <p:cNvSpPr txBox="1"/>
          <p:nvPr/>
        </p:nvSpPr>
        <p:spPr>
          <a:xfrm>
            <a:off x="768096" y="44714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207008" y="4370832"/>
            <a:ext cx="27614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Viewing Reports &amp; Dashboards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7–8. TESTING &amp; 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04088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Testing, Advantages &amp; Disadvantages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9AB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&amp; Performance Testing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Record creation across all four objects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8745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Input field validation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Relationship &amp; dependency checks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Profile &amp; role access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Sharing rule verification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606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Report &amp; dashboard generation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3FA7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6118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A7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97764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Centralized data system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7939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Reduced paperwork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8114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Improved accuracy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8289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Better monitoring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8464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Real-time analytics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4290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065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6118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7764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Requires internet connection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27939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Salesforce license dependency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58114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7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Limited offline access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 Management System  ·  Salesforce Project Report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5029200" cy="5029200"/>
          </a:xfrm>
          <a:prstGeom prst="ellipse">
            <a:avLst/>
          </a:prstGeom>
          <a:solidFill>
            <a:srgbClr val="9B7FD4">
              <a:alpha val="16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9–10. CONCLUSION &amp; FUTURE SCOPE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It Stands, and What's Next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9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Farm Management System successfully digitizes agricultural data management using Salesforce — improving efficiency, reducing errors, and enabling farmers and managers to make informed decisions through automation and analytics.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D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Mobile application integration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200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AI-based crop prediction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Weather data integration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611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IoT sensor connectivity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Government scheme integration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4023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Market price forecasting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0515600" cy="0"/>
          </a:xfrm>
          <a:prstGeom prst="line">
            <a:avLst/>
          </a:prstGeom>
          <a:noFill/>
          <a:ln w="12700">
            <a:solidFill>
              <a:srgbClr val="454A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292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E4D9F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7197</Words>
  <Application>WPS Presentation</Application>
  <PresentationFormat>On-screen Show (16:9)</PresentationFormat>
  <Paragraphs>564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Mubeena</cp:lastModifiedBy>
  <cp:revision>2</cp:revision>
  <dcterms:created xsi:type="dcterms:W3CDTF">2026-09-26T02:48:00Z</dcterms:created>
  <dcterms:modified xsi:type="dcterms:W3CDTF">2026-09-26T09:04:32Z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00977F5514E54941B159E0153F6DCA1C_13</vt:lpwstr>
  </property>
  <property fmtid="{D5CDD505-2E9C-101B-9397-08002B2CF9AE}" pid="3" name="KSOProductBuildVer">
    <vt:lpwstr>1033-12.1.0.28485</vt:lpwstr>
  </property>
</Properties>
</file>